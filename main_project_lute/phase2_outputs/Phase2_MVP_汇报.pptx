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51C2C"/>
                </a:solidFill>
              </a:defRPr>
            </a:pPr>
            <a:r>
              <a:t>Phase2 MVP 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专题②：线上订单数量与质量提升 + 交叉线3：退款反哺VOC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✓ 专题② 四个子课题完成：</a:t>
            </a:r>
          </a:p>
          <a:p>
            <a:pPr>
              <a:spcAft>
                <a:spcPts val="800"/>
              </a:spcAft>
              <a:defRPr sz="1800"/>
            </a:pPr>
            <a:r>
              <a:t>  • 子课题①：订单成本与费率归因</a:t>
            </a:r>
          </a:p>
          <a:p>
            <a:pPr>
              <a:spcAft>
                <a:spcPts val="800"/>
              </a:spcAft>
              <a:defRPr sz="1800"/>
            </a:pPr>
            <a:r>
              <a:t>  • 子课题②：订单耗时与节点诊断</a:t>
            </a:r>
          </a:p>
          <a:p>
            <a:pPr>
              <a:spcAft>
                <a:spcPts val="800"/>
              </a:spcAft>
              <a:defRPr sz="1800"/>
            </a:pPr>
            <a:r>
              <a:t>  • 子课题③：订单价结构与毛利归因</a:t>
            </a:r>
          </a:p>
          <a:p>
            <a:pPr>
              <a:spcAft>
                <a:spcPts val="800"/>
              </a:spcAft>
              <a:defRPr sz="1800"/>
            </a:pPr>
            <a:r>
              <a:t>  • 子课题④：退款多维归因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交叉线3 完成：</a:t>
            </a:r>
          </a:p>
          <a:p>
            <a:pPr>
              <a:spcAft>
                <a:spcPts val="800"/>
              </a:spcAft>
              <a:defRPr sz="1800"/>
            </a:pPr>
            <a:r>
              <a:t>  • 订单退款 → VOC双重视图</a:t>
            </a:r>
          </a:p>
          <a:p>
            <a:pPr>
              <a:spcAft>
                <a:spcPts val="800"/>
              </a:spcAft>
              <a:defRPr sz="1800"/>
            </a:pPr>
            <a:r>
              <a:t>  • 产出业务洞察与改进建议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子课题①：订单成本与费率归因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核心发现：</a:t>
            </a:r>
          </a:p>
          <a:p>
            <a:pPr>
              <a:spcAft>
                <a:spcPts val="800"/>
              </a:spcAft>
              <a:defRPr sz="1800"/>
            </a:pPr>
            <a:r>
              <a:t>• 亚马逊 vs DTC 平台成本结构差异显著</a:t>
            </a:r>
          </a:p>
          <a:p>
            <a:pPr>
              <a:spcAft>
                <a:spcPts val="800"/>
              </a:spcAft>
              <a:defRPr sz="1800"/>
            </a:pPr>
            <a:r>
              <a:t>• 前台成本（促销+推广+退款）占比平台间差异大</a:t>
            </a:r>
          </a:p>
          <a:p>
            <a:pPr>
              <a:spcAft>
                <a:spcPts val="800"/>
              </a:spcAft>
              <a:defRPr sz="1800"/>
            </a:pPr>
            <a:r>
              <a:t>• 后台成本（生产+头程+仓配+佣金）相对稳定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数据来源：topic2_cost_attribution.csv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051C2C"/>
                </a:solidFill>
              </a:defRPr>
            </a:pPr>
            <a:r>
              <a:t>平台成本结构对比</a:t>
            </a:r>
          </a:p>
        </p:txBody>
      </p:sp>
      <p:pic>
        <p:nvPicPr>
          <p:cNvPr id="4" name="Picture 3" descr="chart_cost_at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5A7F9F"/>
                </a:solidFill>
              </a:defRPr>
            </a:pPr>
            <a:r>
              <a:t>前台成本 vs 后台成本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子课题②：订单耗时与节点诊断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核心发现：</a:t>
            </a:r>
          </a:p>
          <a:p>
            <a:pPr>
              <a:spcAft>
                <a:spcPts val="800"/>
              </a:spcAft>
              <a:defRPr sz="1800"/>
            </a:pPr>
            <a:r>
              <a:t>• 各仓库平均履约时长存在差异</a:t>
            </a:r>
          </a:p>
          <a:p>
            <a:pPr>
              <a:spcAft>
                <a:spcPts val="800"/>
              </a:spcAft>
              <a:defRPr sz="1800"/>
            </a:pPr>
            <a:r>
              <a:t>• 部分仓库超时率较高，需关注</a:t>
            </a:r>
          </a:p>
          <a:p>
            <a:pPr>
              <a:spcAft>
                <a:spcPts val="800"/>
              </a:spcAft>
              <a:defRPr sz="1800"/>
            </a:pPr>
            <a:r>
              <a:t>• 订单节点各阶段耗时分布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数据来源：topic2_leadtime_diagnostics.csv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051C2C"/>
                </a:solidFill>
              </a:defRPr>
            </a:pPr>
            <a:r>
              <a:t>各仓库履约时效</a:t>
            </a:r>
          </a:p>
        </p:txBody>
      </p:sp>
      <p:pic>
        <p:nvPicPr>
          <p:cNvPr id="4" name="Picture 3" descr="chart_lead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子课题④：退款多维归因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核心发现：</a:t>
            </a:r>
          </a:p>
          <a:p>
            <a:pPr>
              <a:spcAft>
                <a:spcPts val="800"/>
              </a:spcAft>
              <a:defRPr sz="1800"/>
            </a:pPr>
            <a:r>
              <a:t>• 质量问题、描述不符是主要退款原因</a:t>
            </a:r>
          </a:p>
          <a:p>
            <a:pPr>
              <a:spcAft>
                <a:spcPts val="800"/>
              </a:spcAft>
              <a:defRPr sz="1800"/>
            </a:pPr>
            <a:r>
              <a:t>• 物流配送问题需重点关注</a:t>
            </a:r>
          </a:p>
          <a:p>
            <a:pPr>
              <a:spcAft>
                <a:spcPts val="800"/>
              </a:spcAft>
              <a:defRPr sz="1800"/>
            </a:pPr>
            <a:r>
              <a:t>• 部分退比例较高，存在组合优化空间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数据来源：topic2_refund_attribution.csv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051C2C"/>
                </a:solidFill>
              </a:defRPr>
            </a:pPr>
            <a:r>
              <a:t>退款原因分布</a:t>
            </a:r>
          </a:p>
        </p:txBody>
      </p:sp>
      <p:pic>
        <p:nvPicPr>
          <p:cNvPr id="4" name="Picture 3" descr="chart_refund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交叉线3：VOC双重视图结论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============================================================</a:t>
            </a:r>
          </a:p>
          <a:p>
            <a:pPr>
              <a:spcAft>
                <a:spcPts val="800"/>
              </a:spcAft>
              <a:defRPr sz="1800"/>
            </a:pPr>
            <a:r>
              <a:t>双重视图结论：订单侧问题 + 用户原话</a:t>
            </a:r>
          </a:p>
          <a:p>
            <a:pPr>
              <a:spcAft>
                <a:spcPts val="800"/>
              </a:spcAft>
              <a:defRPr sz="1800"/>
            </a:pPr>
            <a:r>
              <a:t>============================================================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【Top 5 退款问题】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5. 物流配送</a:t>
            </a:r>
          </a:p>
          <a:p>
            <a:pPr>
              <a:spcAft>
                <a:spcPts val="800"/>
              </a:spcAft>
              <a:defRPr sz="1800"/>
            </a:pPr>
            <a:r>
              <a:t>   订单侧: 平台:DTC, 国家:DE, 原因:SHIPPING</a:t>
            </a:r>
          </a:p>
          <a:p>
            <a:pPr>
              <a:spcAft>
                <a:spcPts val="800"/>
              </a:spcAft>
              <a:defRPr sz="1800"/>
            </a:pPr>
            <a:r>
              <a:t>   用户原话: [AMZ US] Package was damaged during shipping, product was exposed. (⭐1)</a:t>
            </a:r>
          </a:p>
          <a:p>
            <a:pPr>
              <a:spcAft>
                <a:spcPts val="800"/>
              </a:spcAft>
              <a:defRPr sz="1800"/>
            </a:pPr>
            <a:r>
              <a:t>   退款金额: $79.09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9. 尺码问题</a:t>
            </a:r>
          </a:p>
          <a:p>
            <a:pPr>
              <a:spcAft>
                <a:spcPts val="800"/>
              </a:spcAft>
              <a:defRPr sz="1800"/>
            </a:pPr>
            <a:r>
              <a:t>   订单侧: 平台:DTC, 国家:DE, 原因:SIZE</a:t>
            </a:r>
          </a:p>
          <a:p>
            <a:pPr>
              <a:spcAft>
                <a:spcPts val="800"/>
              </a:spcAft>
              <a:defRPr sz="1800"/>
            </a:pPr>
            <a:r>
              <a:t>   用户原话: [AMZ US] The size runs very small, ordered M but fits like XS. Very disappointed. (⭐2)</a:t>
            </a:r>
          </a:p>
          <a:p>
            <a:pPr>
              <a:spcAft>
                <a:spcPts val="800"/>
              </a:spcAft>
              <a:defRPr sz="1800"/>
            </a:pPr>
            <a:r>
              <a:t>   退款金额: $79.04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后续驱动动作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1. 客服话术优化：针对高频退款原因更新FAQ</a:t>
            </a:r>
          </a:p>
          <a:p>
            <a:pPr>
              <a:spcAft>
                <a:spcPts val="800"/>
              </a:spcAft>
              <a:defRPr sz="1800"/>
            </a:pPr>
            <a:r>
              <a:t>2. 产品详情页：补充尺码指南、实物视频</a:t>
            </a:r>
          </a:p>
          <a:p>
            <a:pPr>
              <a:spcAft>
                <a:spcPts val="800"/>
              </a:spcAft>
              <a:defRPr sz="1800"/>
            </a:pPr>
            <a:r>
              <a:t>3. 退换货政策：针对部分退场景优化流程</a:t>
            </a:r>
          </a:p>
          <a:p>
            <a:pPr>
              <a:spcAft>
                <a:spcPts val="800"/>
              </a:spcAft>
              <a:defRPr sz="1800"/>
            </a:pPr>
            <a:r>
              <a:t>4. 产品改进：反馈给产品团队进行迭代</a:t>
            </a:r>
          </a:p>
          <a:p>
            <a:pPr>
              <a:spcAft>
                <a:spcPts val="800"/>
              </a:spcAft>
              <a:defRPr sz="1800"/>
            </a:pPr>
            <a:r>
              <a:t>5. 物流优化：选择更可靠的承运商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下一步：</a:t>
            </a:r>
          </a:p>
          <a:p>
            <a:pPr>
              <a:spcAft>
                <a:spcPts val="800"/>
              </a:spcAft>
              <a:defRPr sz="1800"/>
            </a:pPr>
            <a:r>
              <a:t>• 接入真实数仓数据</a:t>
            </a:r>
          </a:p>
          <a:p>
            <a:pPr>
              <a:spcAft>
                <a:spcPts val="800"/>
              </a:spcAft>
              <a:defRPr sz="1800"/>
            </a:pPr>
            <a:r>
              <a:t>• 扩展至其他专题</a:t>
            </a:r>
          </a:p>
          <a:p>
            <a:pPr>
              <a:spcAft>
                <a:spcPts val="800"/>
              </a:spcAft>
              <a:defRPr sz="1800"/>
            </a:pPr>
            <a:r>
              <a:t>• 完善PPT产出模板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